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Random split (test drivers seen in training)</c:v>
                </c:pt>
              </c:strCache>
            </c:strRef>
          </c:tx>
          <c:spPr>
            <a:solidFill>
              <a:srgbClr val="C97A10"/>
            </a:solidFill>
          </c:spPr>
          <c:dLbls>
            <c:numFmt formatCode="0%" sourceLinked="0"/>
            <c:txPr>
              <a:bodyPr/>
              <a:lstStyle/>
              <a:p>
                <a:pPr>
                  <a:defRPr sz="1400">
                    <a:solidFill>
                      <a:srgbClr val="EEF2F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Naive Bayes</c:v>
                </c:pt>
                <c:pt idx="1">
                  <c:v>Linear SVM</c:v>
                </c:pt>
                <c:pt idx="2">
                  <c:v>Softmax</c:v>
                </c:pt>
                <c:pt idx="3">
                  <c:v>Decision Tree</c:v>
                </c:pt>
                <c:pt idx="4">
                  <c:v>MobileNetV3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0.5112960760998811</c:v>
                </c:pt>
                <c:pt idx="1">
                  <c:v>0.9589774078478003</c:v>
                </c:pt>
                <c:pt idx="2">
                  <c:v>0.9794887039239001</c:v>
                </c:pt>
                <c:pt idx="3">
                  <c:v>0.7464328180737217</c:v>
                </c:pt>
                <c:pt idx="4">
                  <c:v>0.9988109393579072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Driver split (test drivers never seen)</c:v>
                </c:pt>
              </c:strCache>
            </c:strRef>
          </c:tx>
          <c:spPr>
            <a:solidFill>
              <a:srgbClr val="3D8FE0"/>
            </a:solidFill>
          </c:spPr>
          <c:dLbls>
            <c:numFmt formatCode="0%" sourceLinked="0"/>
            <c:txPr>
              <a:bodyPr/>
              <a:lstStyle/>
              <a:p>
                <a:pPr>
                  <a:defRPr sz="1400">
                    <a:solidFill>
                      <a:srgbClr val="EEF2F6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Naive Bayes</c:v>
                </c:pt>
                <c:pt idx="1">
                  <c:v>Linear SVM</c:v>
                </c:pt>
                <c:pt idx="2">
                  <c:v>Softmax</c:v>
                </c:pt>
                <c:pt idx="3">
                  <c:v>Decision Tree</c:v>
                </c:pt>
                <c:pt idx="4">
                  <c:v>MobileNetV3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0.260176487332764</c:v>
                </c:pt>
                <c:pt idx="1">
                  <c:v>0.3304867634500427</c:v>
                </c:pt>
                <c:pt idx="2">
                  <c:v>0.3430116709365215</c:v>
                </c:pt>
                <c:pt idx="3">
                  <c:v>0.3042983205237689</c:v>
                </c:pt>
                <c:pt idx="4">
                  <c:v>0.874750925135212</c:v>
                </c:pt>
              </c:numCache>
            </c:numRef>
          </c:val>
        </c:ser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63040"/>
            </a:solidFill>
          </a:ln>
        </c:spPr>
        <c:txPr>
          <a:bodyPr/>
          <a:lstStyle/>
          <a:p>
            <a:pPr>
              <a:defRPr sz="1500">
                <a:solidFill>
                  <a:srgbClr val="B4BFC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26304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8592A3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500">
              <a:solidFill>
                <a:srgbClr val="B4BFCC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project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task: one photo in, one of ten activities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numbers here come from the labelled training set of the Kaggle competition.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reproduce the paper's classical baselines and add a pretrained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splits are 70/15/15 with seed 42. Only the grouping differs.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Classical models follow the paper; MobileNetV3 is our deep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drop column: that's the cost of testing on new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main finding. Random splits measure partly how well the model recognises people it has already 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Rows are true classes, columns are predictions. Off-diagonal cells show mix-ups.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unseen test photos for both models. Heatmap = regions that pushed the predicted class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 26 drivers is an unseen test driver once; 3 seeds per fold. Each run picks its epoch on separate validation drivers. p-values: paired t-test over the 5 folds (seeds averaged).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One-shot identification: within one action, match each photo to one reference photo per test driver using the model's features. Chance is about 1 in 5. Lower means less identity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400" b="1">
                <a:solidFill>
                  <a:srgbClr val="EEF2F6"/>
                </a:solidFill>
                <a:latin typeface="Arial"/>
              </a:rPr>
              <a:t>Machine Learning Techniques for Distracted Driver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429000"/>
            <a:ext cx="1097280" cy="50000"/>
          </a:xfrm>
          <a:prstGeom prst="rect">
            <a:avLst/>
          </a:prstGeom>
          <a:solidFill>
            <a:srgbClr val="7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100584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0">
                <a:solidFill>
                  <a:srgbClr val="B4BFCC"/>
                </a:solidFill>
                <a:latin typeface="Arial"/>
              </a:rPr>
              <a:t>Team F-28 · Project 75 · Section F · ML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0584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0">
                <a:solidFill>
                  <a:srgbClr val="EEF2F6"/>
                </a:solidFill>
                <a:latin typeface="Arial"/>
              </a:rPr>
              <a:t>Chiranth R (PES1UG24AM354)</a:t>
            </a:r>
          </a:p>
          <a:p>
            <a:pPr algn="l"/>
            <a:r>
              <a:rPr sz="2200" b="0">
                <a:solidFill>
                  <a:srgbClr val="EEF2F6"/>
                </a:solidFill>
                <a:latin typeface="Arial"/>
              </a:rPr>
              <a:t>Vihaan Wadhwa (PES1UG24AM319)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EEF2F6"/>
                </a:solidFill>
                <a:latin typeface="Arial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822960" cy="38000"/>
          </a:xfrm>
          <a:prstGeom prst="rect">
            <a:avLst/>
          </a:prstGeom>
          <a:solidFill>
            <a:srgbClr val="7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8592A3"/>
                </a:solidFill>
                <a:latin typeface="Arial"/>
              </a:rPr>
              <a:t>Team F-28 · Distracted Driver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8592A3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760720" cy="43891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</a:pPr>
            <a:r>
              <a:rPr sz="2100" b="1">
                <a:solidFill>
                  <a:srgbClr val="EEF2F6"/>
                </a:solidFill>
                <a:latin typeface="Arial"/>
              </a:rPr>
              <a:t>Goal:</a:t>
            </a:r>
            <a:r>
              <a:rPr sz="2100">
                <a:solidFill>
                  <a:srgbClr val="B4BFCC"/>
                </a:solidFill>
                <a:latin typeface="Arial"/>
              </a:rPr>
              <a:t> classify a dashboard-camera photo of a driver into one of 10 activities.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EEF2F6"/>
                </a:solidFill>
                <a:latin typeface="Arial"/>
              </a:rPr>
              <a:t>Why it matters:</a:t>
            </a:r>
            <a:r>
              <a:rPr sz="2100">
                <a:solidFill>
                  <a:srgbClr val="B4BFCC"/>
                </a:solidFill>
                <a:latin typeface="Arial"/>
              </a:rPr>
              <a:t> a system that notices texting, phone calls or reaching behind could warn the driver in time.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EEF2F6"/>
                </a:solidFill>
                <a:latin typeface="Arial"/>
              </a:rPr>
              <a:t>Input:</a:t>
            </a:r>
            <a:r>
              <a:rPr sz="2100">
                <a:solidFill>
                  <a:srgbClr val="B4BFCC"/>
                </a:solidFill>
                <a:latin typeface="Arial"/>
              </a:rPr>
              <a:t> one RGB photo taken from the passenger side.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EEF2F6"/>
                </a:solidFill>
                <a:latin typeface="Arial"/>
              </a:rPr>
              <a:t>Output:</a:t>
            </a:r>
            <a:r>
              <a:rPr sz="2100">
                <a:solidFill>
                  <a:srgbClr val="B4BFCC"/>
                </a:solidFill>
                <a:latin typeface="Arial"/>
              </a:rPr>
              <a:t> c0 safe driving, or one of nine distractions (c1–c9).</a:t>
            </a:r>
          </a:p>
          <a:p>
            <a:pPr>
              <a:spcAft>
                <a:spcPts val="1000"/>
              </a:spcAft>
            </a:pPr>
            <a:r>
              <a:rPr sz="2100" b="1">
                <a:solidFill>
                  <a:srgbClr val="EEF2F6"/>
                </a:solidFill>
                <a:latin typeface="Arial"/>
              </a:rPr>
              <a:t>Our question:</a:t>
            </a:r>
            <a:r>
              <a:rPr sz="2100">
                <a:solidFill>
                  <a:srgbClr val="B4BFCC"/>
                </a:solidFill>
                <a:latin typeface="Arial"/>
              </a:rPr>
              <a:t> does the usual way of measuring accuracy hold up on drivers the model has never seen?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640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7FE3CF"/>
                </a:solidFill>
                <a:latin typeface="Arial"/>
              </a:rPr>
              <a:t>c0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600200"/>
            <a:ext cx="4114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B4BFCC"/>
                </a:solidFill>
                <a:latin typeface="Arial"/>
              </a:rPr>
              <a:t>safe driving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29968"/>
            <a:ext cx="640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7FE3CF"/>
                </a:solidFill>
                <a:latin typeface="Arial"/>
              </a:rP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29968"/>
            <a:ext cx="4114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B4BFCC"/>
                </a:solidFill>
                <a:latin typeface="Arial"/>
              </a:rPr>
              <a:t>texting - 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459736"/>
            <a:ext cx="640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7FE3CF"/>
                </a:solidFill>
                <a:latin typeface="Arial"/>
              </a:rPr>
              <a:t>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459736"/>
            <a:ext cx="4114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B4BFCC"/>
                </a:solidFill>
                <a:latin typeface="Arial"/>
              </a:rPr>
              <a:t>talking on phone - 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889504"/>
            <a:ext cx="640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7FE3CF"/>
                </a:solidFill>
                <a:latin typeface="Arial"/>
              </a:rPr>
              <a:t>c3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2889504"/>
            <a:ext cx="4114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B4BFCC"/>
                </a:solidFill>
                <a:latin typeface="Arial"/>
              </a:rPr>
              <a:t>texting - left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319272"/>
            <a:ext cx="640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7FE3CF"/>
                </a:solidFill>
                <a:latin typeface="Arial"/>
              </a:rPr>
              <a:t>c4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319272"/>
            <a:ext cx="4114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B4BFCC"/>
                </a:solidFill>
                <a:latin typeface="Arial"/>
              </a:rPr>
              <a:t>talking on phone - left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749040"/>
            <a:ext cx="640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7FE3CF"/>
                </a:solidFill>
                <a:latin typeface="Arial"/>
              </a:rPr>
              <a:t>c5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3749040"/>
            <a:ext cx="4114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B4BFCC"/>
                </a:solidFill>
                <a:latin typeface="Arial"/>
              </a:rPr>
              <a:t>operating the radio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178808"/>
            <a:ext cx="640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7FE3CF"/>
                </a:solidFill>
                <a:latin typeface="Arial"/>
              </a:rPr>
              <a:t>c6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178808"/>
            <a:ext cx="4114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B4BFCC"/>
                </a:solidFill>
                <a:latin typeface="Arial"/>
              </a:rPr>
              <a:t>drinking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7FE3CF"/>
                </a:solidFill>
                <a:latin typeface="Arial"/>
              </a:rPr>
              <a:t>c7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608576"/>
            <a:ext cx="4114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B4BFCC"/>
                </a:solidFill>
                <a:latin typeface="Arial"/>
              </a:rPr>
              <a:t>reaching behind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038344"/>
            <a:ext cx="640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7FE3CF"/>
                </a:solidFill>
                <a:latin typeface="Arial"/>
              </a:rPr>
              <a:t>c8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038344"/>
            <a:ext cx="4114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B4BFCC"/>
                </a:solidFill>
                <a:latin typeface="Arial"/>
              </a:rPr>
              <a:t>hair and makeup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5468112"/>
            <a:ext cx="640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7FE3CF"/>
                </a:solidFill>
                <a:latin typeface="Arial"/>
              </a:rPr>
              <a:t>c9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5468112"/>
            <a:ext cx="4114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B4BFCC"/>
                </a:solidFill>
                <a:latin typeface="Arial"/>
              </a:rPr>
              <a:t>talking to passenger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angle 7"/>
          <p:cNvSpPr/>
          <p:nvPr/>
        </p:nvSpPr>
        <p:spPr>
          <a:xfrm>
            <a:off x="4937760" y="1508760"/>
            <a:ext cx="6675120" cy="29587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EEF2F6"/>
                </a:solidFill>
                <a:latin typeface="Arial"/>
              </a:rPr>
              <a:t>Dataset: State Farm (Kaggle)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822960" cy="38000"/>
          </a:xfrm>
          <a:prstGeom prst="rect">
            <a:avLst/>
          </a:prstGeom>
          <a:solidFill>
            <a:srgbClr val="7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8592A3"/>
                </a:solidFill>
                <a:latin typeface="Arial"/>
              </a:rPr>
              <a:t>Team F-28 · Distracted Driver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8592A3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023360" cy="43891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EEF2F6"/>
                </a:solidFill>
                <a:latin typeface="Arial"/>
              </a:rPr>
              <a:t>22,424 labelled photos</a:t>
            </a:r>
            <a:r>
              <a:rPr sz="1900">
                <a:solidFill>
                  <a:srgbClr val="B4BFCC"/>
                </a:solidFill>
                <a:latin typeface="Arial"/>
              </a:rPr>
              <a:t> across 10 classes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EF2F6"/>
                </a:solidFill>
                <a:latin typeface="Arial"/>
              </a:rPr>
              <a:t>26 different drivers</a:t>
            </a:r>
            <a:r>
              <a:rPr sz="1900">
                <a:solidFill>
                  <a:srgbClr val="B4BFCC"/>
                </a:solidFill>
                <a:latin typeface="Arial"/>
              </a:rPr>
              <a:t> each appears in many photos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EF2F6"/>
                </a:solidFill>
                <a:latin typeface="Arial"/>
              </a:rPr>
              <a:t>Classes are fairly balanced:</a:t>
            </a:r>
            <a:r>
              <a:rPr sz="1900">
                <a:solidFill>
                  <a:srgbClr val="B4BFCC"/>
                </a:solidFill>
                <a:latin typeface="Arial"/>
              </a:rPr>
              <a:t> 1,911 to 2,489 photos per class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EF2F6"/>
                </a:solidFill>
                <a:latin typeface="Arial"/>
              </a:rPr>
              <a:t>Consecutive frames of the same person look very alike.</a:t>
            </a:r>
            <a:r>
              <a:rPr sz="1900">
                <a:solidFill>
                  <a:srgbClr val="B4BFCC"/>
                </a:solidFill>
                <a:latin typeface="Arial"/>
              </a:rPr>
              <a:t> That's why a random split can leak.</a:t>
            </a:r>
          </a:p>
        </p:txBody>
      </p:sp>
      <p:pic>
        <p:nvPicPr>
          <p:cNvPr id="7" name="Picture 6" descr="class_examp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1581912"/>
            <a:ext cx="6528816" cy="28124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EEF2F6"/>
                </a:solidFill>
                <a:latin typeface="Arial"/>
              </a:rPr>
              <a:t>Reference: Stanford CS229 (Spring 2019), project 24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822960" cy="38000"/>
          </a:xfrm>
          <a:prstGeom prst="rect">
            <a:avLst/>
          </a:prstGeom>
          <a:solidFill>
            <a:srgbClr val="7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8592A3"/>
                </a:solidFill>
                <a:latin typeface="Arial"/>
              </a:rPr>
              <a:t>Team F-28 · Distracted Driver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8592A3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43891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800"/>
              </a:spcAft>
            </a:pPr>
            <a:r>
              <a:rPr sz="2400" b="1">
                <a:solidFill>
                  <a:srgbClr val="EEF2F6"/>
                </a:solidFill>
                <a:latin typeface="Arial"/>
              </a:rPr>
              <a:t>Features:</a:t>
            </a:r>
            <a:r>
              <a:rPr sz="2400">
                <a:solidFill>
                  <a:srgbClr val="B4BFCC"/>
                </a:solidFill>
                <a:latin typeface="Arial"/>
              </a:rPr>
              <a:t> 64×64×3 images flattened into 12,288 numbers.</a:t>
            </a:r>
          </a:p>
          <a:p>
            <a:pPr>
              <a:spcAft>
                <a:spcPts val="1800"/>
              </a:spcAft>
            </a:pPr>
            <a:r>
              <a:rPr sz="2400" b="1">
                <a:solidFill>
                  <a:srgbClr val="EEF2F6"/>
                </a:solidFill>
                <a:latin typeface="Arial"/>
              </a:rPr>
              <a:t>Models:</a:t>
            </a:r>
            <a:r>
              <a:rPr sz="2400">
                <a:solidFill>
                  <a:srgbClr val="B4BFCC"/>
                </a:solidFill>
                <a:latin typeface="Arial"/>
              </a:rPr>
              <a:t> Naive Bayes, linear SVM, softmax regression, decision tree, 2-layer neural network.</a:t>
            </a:r>
          </a:p>
          <a:p>
            <a:pPr>
              <a:spcAft>
                <a:spcPts val="1800"/>
              </a:spcAft>
            </a:pPr>
            <a:r>
              <a:rPr sz="2400" b="1">
                <a:solidFill>
                  <a:srgbClr val="EEF2F6"/>
                </a:solidFill>
                <a:latin typeface="Arial"/>
              </a:rPr>
              <a:t>Evaluation:</a:t>
            </a:r>
            <a:r>
              <a:rPr sz="2400">
                <a:solidFill>
                  <a:srgbClr val="B4BFCC"/>
                </a:solidFill>
                <a:latin typeface="Arial"/>
              </a:rPr>
              <a:t> a random 80/20 split of the photos; best accuracy reported around 92%.</a:t>
            </a:r>
          </a:p>
          <a:p>
            <a:pPr>
              <a:spcAft>
                <a:spcPts val="1800"/>
              </a:spcAft>
            </a:pPr>
            <a:r>
              <a:rPr sz="2400" b="1">
                <a:solidFill>
                  <a:srgbClr val="EEF2F6"/>
                </a:solidFill>
                <a:latin typeface="Arial"/>
              </a:rPr>
              <a:t>What we add:</a:t>
            </a:r>
            <a:r>
              <a:rPr sz="2400">
                <a:solidFill>
                  <a:srgbClr val="B4BFCC"/>
                </a:solidFill>
                <a:latin typeface="Arial"/>
              </a:rPr>
              <a:t> (1) a driver-grouped split that keeps test drivers out of training, (2) a pretrained MobileNetV3, (3) Grad-CAM to see where models look.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EEF2F6"/>
                </a:solidFill>
                <a:latin typeface="Arial"/>
              </a:rPr>
              <a:t>Our method: two ways to split the same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822960" cy="38000"/>
          </a:xfrm>
          <a:prstGeom prst="rect">
            <a:avLst/>
          </a:prstGeom>
          <a:solidFill>
            <a:srgbClr val="7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8592A3"/>
                </a:solidFill>
                <a:latin typeface="Arial"/>
              </a:rPr>
              <a:t>Team F-28 · Distracted Driver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8592A3"/>
                </a:solidFill>
                <a:latin typeface="Arial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03520" cy="4206240"/>
          </a:xfrm>
          <a:prstGeom prst="rect">
            <a:avLst/>
          </a:prstGeom>
          <a:solidFill>
            <a:srgbClr val="17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303520" cy="60000"/>
          </a:xfrm>
          <a:prstGeom prst="rect">
            <a:avLst/>
          </a:prstGeom>
          <a:solidFill>
            <a:srgbClr val="C97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7548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EEF2F6"/>
                </a:solidFill>
                <a:latin typeface="Arial"/>
              </a:rPr>
              <a:t>Random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75488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B4BFCC"/>
                </a:solidFill>
                <a:latin typeface="Arial"/>
              </a:rPr>
              <a:t>Photos shuffled, stratified by class. The same drivers appear in train, val and test.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10972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8592A3"/>
                </a:solidFill>
                <a:latin typeface="Arial"/>
              </a:rPr>
              <a:t>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429000"/>
            <a:ext cx="3657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EEF2F6"/>
                </a:solidFill>
                <a:latin typeface="Arial"/>
              </a:rPr>
              <a:t>15,696 photos · 26 drivers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31920"/>
            <a:ext cx="10972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8592A3"/>
                </a:solidFill>
                <a:latin typeface="Arial"/>
              </a:rPr>
              <a:t>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931920"/>
            <a:ext cx="3657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EEF2F6"/>
                </a:solidFill>
                <a:latin typeface="Arial"/>
              </a:rPr>
              <a:t>3,364 photos · 26 drivers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972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8592A3"/>
                </a:solidFill>
                <a:latin typeface="Arial"/>
              </a:rP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434840"/>
            <a:ext cx="3657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EEF2F6"/>
                </a:solidFill>
                <a:latin typeface="Arial"/>
              </a:rPr>
              <a:t>3,364 photos · 26 drivers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5303520" cy="4206240"/>
          </a:xfrm>
          <a:prstGeom prst="rect">
            <a:avLst/>
          </a:prstGeom>
          <a:solidFill>
            <a:srgbClr val="17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554480"/>
            <a:ext cx="5303520" cy="60000"/>
          </a:xfrm>
          <a:prstGeom prst="rect">
            <a:avLst/>
          </a:prstGeom>
          <a:solidFill>
            <a:srgbClr val="3D8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783080"/>
            <a:ext cx="47548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EEF2F6"/>
                </a:solidFill>
                <a:latin typeface="Arial"/>
              </a:rPr>
              <a:t>Driver 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377440"/>
            <a:ext cx="475488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B4BFCC"/>
                </a:solidFill>
                <a:latin typeface="Arial"/>
              </a:rPr>
              <a:t>Whole drivers assigned to train, val or test. Test drivers are never seen in training.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429000"/>
            <a:ext cx="10972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8592A3"/>
                </a:solidFill>
                <a:latin typeface="Arial"/>
              </a:rPr>
              <a:t>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429000"/>
            <a:ext cx="3657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EEF2F6"/>
                </a:solidFill>
                <a:latin typeface="Arial"/>
              </a:rPr>
              <a:t>15,313 photos · 18 drivers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31920"/>
            <a:ext cx="10972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8592A3"/>
                </a:solidFill>
                <a:latin typeface="Arial"/>
              </a:rPr>
              <a:t>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931920"/>
            <a:ext cx="3657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EEF2F6"/>
                </a:solidFill>
                <a:latin typeface="Arial"/>
              </a:rPr>
              <a:t>3,598 photos · 4 drivers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434840"/>
            <a:ext cx="10972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8592A3"/>
                </a:solidFill>
                <a:latin typeface="Arial"/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434840"/>
            <a:ext cx="3657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EEF2F6"/>
                </a:solidFill>
                <a:latin typeface="Arial"/>
              </a:rPr>
              <a:t>3,513 photos · 4 drivers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8592A3"/>
                </a:solidFill>
                <a:latin typeface="Arial"/>
              </a:rPr>
              <a:t>Driver-split test drivers: p022, p039, p047, p056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EEF2F6"/>
                </a:solidFill>
                <a:latin typeface="Arial"/>
              </a:rPr>
              <a:t>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822960" cy="38000"/>
          </a:xfrm>
          <a:prstGeom prst="rect">
            <a:avLst/>
          </a:prstGeom>
          <a:solidFill>
            <a:srgbClr val="7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8592A3"/>
                </a:solidFill>
                <a:latin typeface="Arial"/>
              </a:rPr>
              <a:t>Team F-28 · Distracted Driver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8592A3"/>
                </a:solidFill>
                <a:latin typeface="Arial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03520" cy="4480560"/>
          </a:xfrm>
          <a:prstGeom prst="rect">
            <a:avLst/>
          </a:prstGeom>
          <a:solidFill>
            <a:srgbClr val="17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400" b="1">
                <a:solidFill>
                  <a:srgbClr val="EEF2F6"/>
                </a:solidFill>
                <a:latin typeface="Arial"/>
              </a:rPr>
              <a:t>Classical (like CS229)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84632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EEF2F6"/>
                </a:solidFill>
                <a:latin typeface="Arial"/>
              </a:rPr>
              <a:t>Input:</a:t>
            </a:r>
            <a:r>
              <a:rPr sz="1700">
                <a:solidFill>
                  <a:srgbClr val="B4BFCC"/>
                </a:solidFill>
                <a:latin typeface="Arial"/>
              </a:rPr>
              <a:t> 64×64×3 pixels, flattened, standardised (train only)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EEF2F6"/>
                </a:solidFill>
                <a:latin typeface="Arial"/>
              </a:rPr>
              <a:t>Models:</a:t>
            </a:r>
            <a:r>
              <a:rPr sz="1700">
                <a:solidFill>
                  <a:srgbClr val="B4BFCC"/>
                </a:solidFill>
                <a:latin typeface="Arial"/>
              </a:rPr>
              <a:t> Gaussian Naive Bayes, linear SVM (hinge SGD), softmax (multinomial logistic), decision tree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EEF2F6"/>
                </a:solidFill>
                <a:latin typeface="Arial"/>
              </a:rPr>
              <a:t>Training set:</a:t>
            </a:r>
            <a:r>
              <a:rPr sz="1700">
                <a:solidFill>
                  <a:srgbClr val="B4BFCC"/>
                </a:solidFill>
                <a:latin typeface="Arial"/>
              </a:rPr>
              <a:t> subsample of 8,000 / 8,000 photos (random / driver) for speed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303520" cy="4480560"/>
          </a:xfrm>
          <a:prstGeom prst="rect">
            <a:avLst/>
          </a:prstGeom>
          <a:solidFill>
            <a:srgbClr val="17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8463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400" b="1">
                <a:solidFill>
                  <a:srgbClr val="EEF2F6"/>
                </a:solidFill>
                <a:latin typeface="Arial"/>
              </a:rPr>
              <a:t>Deep: MobileNetV3-Large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84632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EEF2F6"/>
                </a:solidFill>
                <a:latin typeface="Arial"/>
              </a:rPr>
              <a:t>Input:</a:t>
            </a:r>
            <a:r>
              <a:rPr sz="1700">
                <a:solidFill>
                  <a:srgbClr val="B4BFCC"/>
                </a:solidFill>
                <a:latin typeface="Arial"/>
              </a:rPr>
              <a:t> 224×224 RGB, ImageNet-pretrained weights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EEF2F6"/>
                </a:solidFill>
                <a:latin typeface="Arial"/>
              </a:rPr>
              <a:t>Training:</a:t>
            </a:r>
            <a:r>
              <a:rPr sz="1700">
                <a:solidFill>
                  <a:srgbClr val="B4BFCC"/>
                </a:solidFill>
                <a:latin typeface="Arial"/>
              </a:rPr>
              <a:t> 8 epochs, AdamW, one-cycle LR 0.001, batch 64, mixed precision on a Tesla T4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EEF2F6"/>
                </a:solidFill>
                <a:latin typeface="Arial"/>
              </a:rPr>
              <a:t>Augmentation:</a:t>
            </a:r>
            <a:r>
              <a:rPr sz="1700">
                <a:solidFill>
                  <a:srgbClr val="B4BFCC"/>
                </a:solidFill>
                <a:latin typeface="Arial"/>
              </a:rPr>
              <a:t> small shifts, rotations, colour jitter. No horizontal flip: left/right-hand classes would swap.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EEF2F6"/>
                </a:solidFill>
                <a:latin typeface="Arial"/>
              </a:rPr>
              <a:t>Model selection:</a:t>
            </a:r>
            <a:r>
              <a:rPr sz="1700">
                <a:solidFill>
                  <a:srgbClr val="B4BFCC"/>
                </a:solidFill>
                <a:latin typeface="Arial"/>
              </a:rPr>
              <a:t> best epoch by validation accuracy, never the test set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EEF2F6"/>
                </a:solidFill>
                <a:latin typeface="Arial"/>
              </a:rPr>
              <a:t>Results: every model on both splits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822960" cy="38000"/>
          </a:xfrm>
          <a:prstGeom prst="rect">
            <a:avLst/>
          </a:prstGeom>
          <a:solidFill>
            <a:srgbClr val="7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8592A3"/>
                </a:solidFill>
                <a:latin typeface="Arial"/>
              </a:rPr>
              <a:t>Team F-28 · Distracted Driver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8592A3"/>
                </a:solidFill>
                <a:latin typeface="Arial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4592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  <a:gridCol w="1813560"/>
                <a:gridCol w="1813560"/>
                <a:gridCol w="181356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8592A3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>
                    <a:solidFill>
                      <a:srgbClr val="171C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8592A3"/>
                          </a:solidFill>
                          <a:latin typeface="Arial"/>
                        </a:rPr>
                        <a:t>Random-split acc</a:t>
                      </a:r>
                    </a:p>
                  </a:txBody>
                  <a:tcPr>
                    <a:solidFill>
                      <a:srgbClr val="171C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8592A3"/>
                          </a:solidFill>
                          <a:latin typeface="Arial"/>
                        </a:rPr>
                        <a:t>Driver-split acc</a:t>
                      </a:r>
                    </a:p>
                  </a:txBody>
                  <a:tcPr>
                    <a:solidFill>
                      <a:srgbClr val="171C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8592A3"/>
                          </a:solidFill>
                          <a:latin typeface="Arial"/>
                        </a:rPr>
                        <a:t>Drop (points)</a:t>
                      </a:r>
                    </a:p>
                  </a:txBody>
                  <a:tcPr>
                    <a:solidFill>
                      <a:srgbClr val="171C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8592A3"/>
                          </a:solidFill>
                          <a:latin typeface="Arial"/>
                        </a:rPr>
                        <a:t>Macro-F1 random</a:t>
                      </a:r>
                    </a:p>
                  </a:txBody>
                  <a:tcPr>
                    <a:solidFill>
                      <a:srgbClr val="171C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8592A3"/>
                          </a:solidFill>
                          <a:latin typeface="Arial"/>
                        </a:rPr>
                        <a:t>Macro-F1 driver</a:t>
                      </a:r>
                    </a:p>
                  </a:txBody>
                  <a:tcPr>
                    <a:solidFill>
                      <a:srgbClr val="171C2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EEF2F6"/>
                          </a:solidFill>
                          <a:latin typeface="Arial"/>
                        </a:rPr>
                        <a:t>Naive Bayes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51.1%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26.0%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25.1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0.508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0.228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EEF2F6"/>
                          </a:solidFill>
                          <a:latin typeface="Arial"/>
                        </a:rPr>
                        <a:t>Linear SVM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95.9%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33.0%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62.8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0.959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0.338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EEF2F6"/>
                          </a:solidFill>
                          <a:latin typeface="Arial"/>
                        </a:rPr>
                        <a:t>Softmax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97.9%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34.3%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63.6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0.979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0.334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EEF2F6"/>
                          </a:solidFill>
                          <a:latin typeface="Arial"/>
                        </a:rPr>
                        <a:t>Decision Tree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74.6%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30.4%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44.2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0.748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0.303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EEF2F6"/>
                          </a:solidFill>
                          <a:latin typeface="Arial"/>
                        </a:rPr>
                        <a:t>MobileNetV3</a:t>
                      </a:r>
                    </a:p>
                  </a:txBody>
                  <a:tcPr>
                    <a:solidFill>
                      <a:srgbClr val="1D24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99.9%</a:t>
                      </a:r>
                    </a:p>
                  </a:txBody>
                  <a:tcPr>
                    <a:solidFill>
                      <a:srgbClr val="1D24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87.5%</a:t>
                      </a:r>
                    </a:p>
                  </a:txBody>
                  <a:tcPr>
                    <a:solidFill>
                      <a:srgbClr val="1D24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12.4</a:t>
                      </a:r>
                    </a:p>
                  </a:txBody>
                  <a:tcPr>
                    <a:solidFill>
                      <a:srgbClr val="1D24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0.999</a:t>
                      </a:r>
                    </a:p>
                  </a:txBody>
                  <a:tcPr>
                    <a:solidFill>
                      <a:srgbClr val="1D243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EEF2F6"/>
                          </a:solidFill>
                          <a:latin typeface="Arial"/>
                        </a:rPr>
                        <a:t>0.872</a:t>
                      </a:r>
                    </a:p>
                  </a:txBody>
                  <a:tcPr>
                    <a:solidFill>
                      <a:srgbClr val="1D243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8592A3"/>
                </a:solidFill>
                <a:latin typeface="Arial"/>
              </a:rPr>
              <a:t>Test sets: 3,364 photos (random split) and 3,513 photos from 4 unseen drivers (driver split).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EEF2F6"/>
                </a:solidFill>
                <a:latin typeface="Arial"/>
              </a:rPr>
              <a:t>Unseen drivers: MobileNetV3 99.9% → 87.5%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822960" cy="38000"/>
          </a:xfrm>
          <a:prstGeom prst="rect">
            <a:avLst/>
          </a:prstGeom>
          <a:solidFill>
            <a:srgbClr val="7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8592A3"/>
                </a:solidFill>
                <a:latin typeface="Arial"/>
              </a:rPr>
              <a:t>Team F-28 · Distracted Driver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8592A3"/>
                </a:solidFill>
                <a:latin typeface="Arial"/>
              </a:rPr>
              <a:t>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463040"/>
          <a:ext cx="1088136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640080" y="1417320"/>
            <a:ext cx="5569399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EEF2F6"/>
                </a:solidFill>
                <a:latin typeface="Arial"/>
              </a:rPr>
              <a:t>Where MobileNetV3 gets confused on new drivers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822960" cy="38000"/>
          </a:xfrm>
          <a:prstGeom prst="rect">
            <a:avLst/>
          </a:prstGeom>
          <a:solidFill>
            <a:srgbClr val="7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8592A3"/>
                </a:solidFill>
                <a:latin typeface="Arial"/>
              </a:rPr>
              <a:t>Team F-28 · Distracted Driver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8592A3"/>
                </a:solidFill>
                <a:latin typeface="Arial"/>
              </a:rPr>
              <a:t>9</a:t>
            </a:r>
          </a:p>
        </p:txBody>
      </p:sp>
      <p:pic>
        <p:nvPicPr>
          <p:cNvPr id="6" name="Picture 5" descr="cm_driver_mobilenetv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90472"/>
            <a:ext cx="5423095" cy="47000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0" y="1600200"/>
            <a:ext cx="47548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200" b="1">
                <a:solidFill>
                  <a:srgbClr val="EEF2F6"/>
                </a:solidFill>
                <a:latin typeface="Arial"/>
              </a:rPr>
              <a:t>Hardest classes (driver split)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240280"/>
            <a:ext cx="475488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EEF2F6"/>
                </a:solidFill>
                <a:latin typeface="Arial"/>
              </a:rPr>
              <a:t>c9 talking to passenger:</a:t>
            </a:r>
            <a:r>
              <a:rPr sz="1900">
                <a:solidFill>
                  <a:srgbClr val="B4BFCC"/>
                </a:solidFill>
                <a:latin typeface="Arial"/>
              </a:rPr>
              <a:t> 50.6% correct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EF2F6"/>
                </a:solidFill>
                <a:latin typeface="Arial"/>
              </a:rPr>
              <a:t>c8 hair and makeup:</a:t>
            </a:r>
            <a:r>
              <a:rPr sz="1900">
                <a:solidFill>
                  <a:srgbClr val="B4BFCC"/>
                </a:solidFill>
                <a:latin typeface="Arial"/>
              </a:rPr>
              <a:t> 71.2% correct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EF2F6"/>
                </a:solidFill>
                <a:latin typeface="Arial"/>
              </a:rPr>
              <a:t>c2 talking on phone - right:</a:t>
            </a:r>
            <a:r>
              <a:rPr sz="1900">
                <a:solidFill>
                  <a:srgbClr val="B4BFCC"/>
                </a:solidFill>
                <a:latin typeface="Arial"/>
              </a:rPr>
              <a:t> 81.1% correct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4023360"/>
            <a:ext cx="475488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B4BFCC"/>
                </a:solidFill>
                <a:latin typeface="Arial"/>
              </a:rPr>
              <a:t>Per-class accuracy on the random split for the same classes: c9 99.4%, c8 100.0%, c2 100.0%.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640080" y="1371600"/>
            <a:ext cx="4746102" cy="4937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EEF2F6"/>
                </a:solidFill>
                <a:latin typeface="Arial"/>
              </a:rPr>
              <a:t>Grad-CAM: where each model looks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822960" cy="38000"/>
          </a:xfrm>
          <a:prstGeom prst="rect">
            <a:avLst/>
          </a:prstGeom>
          <a:solidFill>
            <a:srgbClr val="7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8592A3"/>
                </a:solidFill>
                <a:latin typeface="Arial"/>
              </a:rPr>
              <a:t>Team F-28 · Distracted Driver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8592A3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gradcam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44752"/>
            <a:ext cx="4599798" cy="4791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1554480"/>
            <a:ext cx="5486400" cy="43891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0">
                <a:solidFill>
                  <a:srgbClr val="B4BFCC"/>
                </a:solidFill>
                <a:latin typeface="Arial"/>
              </a:rPr>
              <a:t>On these 12 photos (neither model trained on them):</a:t>
            </a:r>
          </a:p>
          <a:p>
            <a:pPr algn="l"/>
            <a:r>
              <a:rPr sz="1700" b="0">
                <a:solidFill>
                  <a:srgbClr val="B4BFCC"/>
                </a:solidFill>
                <a:latin typeface="Arial"/>
              </a:rPr>
              <a:t>random-split model correct on 12, driver-split model correct on 10.</a:t>
            </a:r>
          </a:p>
          <a:p>
            <a:pPr algn="l"/>
            <a:r>
              <a:rPr sz="1700" b="0">
                <a:solidFill>
                  <a:srgbClr val="B4BFCC"/>
                </a:solidFill>
                <a:latin typeface="Arial"/>
              </a:rPr>
              <a:t/>
            </a:r>
          </a:p>
          <a:p>
            <a:pPr algn="l"/>
            <a:r>
              <a:rPr sz="1700" b="0">
                <a:solidFill>
                  <a:srgbClr val="B4BFCC"/>
                </a:solidFill>
                <a:latin typeface="Arial"/>
              </a:rPr>
              <a:t>Columns per photo: original · random-split model · driver-split model.</a:t>
            </a:r>
          </a:p>
          <a:p>
            <a:pPr algn="l"/>
            <a:r>
              <a:rPr sz="1700" b="0">
                <a:solidFill>
                  <a:srgbClr val="B4BFCC"/>
                </a:solidFill>
                <a:latin typeface="Arial"/>
              </a:rPr>
              <a:t>Look for heat on hands, phone, cup and face, versus heat on the background or the person's appearance.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/>
          <p:nvPr/>
        </p:nvSpPr>
        <p:spPr>
          <a:xfrm>
            <a:off x="640080" y="4069080"/>
            <a:ext cx="4429437" cy="2240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EEF2F6"/>
                </a:solidFill>
                <a:latin typeface="Arial"/>
              </a:rPr>
              <a:t>Is it real? 5-fold driver cross-validation (45 runs)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822960" cy="38000"/>
          </a:xfrm>
          <a:prstGeom prst="rect">
            <a:avLst/>
          </a:prstGeom>
          <a:solidFill>
            <a:srgbClr val="7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8592A3"/>
                </a:solidFill>
                <a:latin typeface="Arial"/>
              </a:rPr>
              <a:t>Team F-28 · Distracted Driver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8592A3"/>
                </a:solidFill>
                <a:latin typeface="Arial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00200"/>
          <a:ext cx="676656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280160"/>
                <a:gridCol w="109728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8592A3"/>
                          </a:solidFill>
                          <a:latin typeface="Arial"/>
                        </a:rPr>
                        <a:t>Driver-split model</a:t>
                      </a:r>
                    </a:p>
                  </a:txBody>
                  <a:tcPr>
                    <a:solidFill>
                      <a:srgbClr val="171C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8592A3"/>
                          </a:solidFill>
                          <a:latin typeface="Arial"/>
                        </a:rPr>
                        <a:t>Unseen-driver acc</a:t>
                      </a:r>
                    </a:p>
                  </a:txBody>
                  <a:tcPr>
                    <a:solidFill>
                      <a:srgbClr val="171C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8592A3"/>
                          </a:solidFill>
                          <a:latin typeface="Arial"/>
                        </a:rPr>
                        <a:t>vs baseline</a:t>
                      </a:r>
                    </a:p>
                  </a:txBody>
                  <a:tcPr>
                    <a:solidFill>
                      <a:srgbClr val="171C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8592A3"/>
                          </a:solidFill>
                          <a:latin typeface="Arial"/>
                        </a:rPr>
                        <a:t>p</a:t>
                      </a:r>
                    </a:p>
                  </a:txBody>
                  <a:tcPr>
                    <a:solidFill>
                      <a:srgbClr val="171C2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EF2F6"/>
                          </a:solidFill>
                          <a:latin typeface="Arial"/>
                        </a:rPr>
                        <a:t>Baseline (light augmentation)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EEF2F6"/>
                          </a:solidFill>
                          <a:latin typeface="Arial"/>
                        </a:rPr>
                        <a:t>85.5% ± 2.8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EEF2F6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EEF2F6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EF2F6"/>
                          </a:solidFill>
                          <a:latin typeface="Arial"/>
                        </a:rPr>
                        <a:t>A: scramble appearance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EEF2F6"/>
                          </a:solidFill>
                          <a:latin typeface="Arial"/>
                        </a:rPr>
                        <a:t>85.7% ± 3.4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EEF2F6"/>
                          </a:solidFill>
                          <a:latin typeface="Arial"/>
                        </a:rPr>
                        <a:t>+0.2 pts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EEF2F6"/>
                          </a:solidFill>
                          <a:latin typeface="Arial"/>
                        </a:rPr>
                        <a:t>0.86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EEF2F6"/>
                          </a:solidFill>
                          <a:latin typeface="Arial"/>
                        </a:rPr>
                        <a:t>C: A + adversary (λ 1.0)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EEF2F6"/>
                          </a:solidFill>
                          <a:latin typeface="Arial"/>
                        </a:rPr>
                        <a:t>86.3% ± 3.1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EEF2F6"/>
                          </a:solidFill>
                          <a:latin typeface="Arial"/>
                        </a:rPr>
                        <a:t>+0.8 pts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EEF2F6"/>
                          </a:solidFill>
                          <a:latin typeface="Arial"/>
                        </a:rPr>
                        <a:t>0.26</a:t>
                      </a:r>
                    </a:p>
                  </a:txBody>
                  <a:tcPr>
                    <a:solidFill>
                      <a:srgbClr val="0B0E1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600200"/>
            <a:ext cx="3931920" cy="4572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EF2F6"/>
                </a:solidFill>
                <a:latin typeface="Arial"/>
              </a:rPr>
              <a:t>The leak is robust:</a:t>
            </a:r>
            <a:r>
              <a:rPr sz="1500">
                <a:solidFill>
                  <a:srgbClr val="B4BFCC"/>
                </a:solidFill>
                <a:latin typeface="Arial"/>
              </a:rPr>
              <a:t> random split 99.9% vs 85.5% ± 2.8 on unseen drivers, averaged over all 26 drivers.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EF2F6"/>
                </a:solidFill>
                <a:latin typeface="Arial"/>
              </a:rPr>
              <a:t>Debiasing helps only a little:</a:t>
            </a:r>
            <a:r>
              <a:rPr sz="1500">
                <a:solidFill>
                  <a:srgbClr val="B4BFCC"/>
                </a:solidFill>
                <a:latin typeface="Arial"/>
              </a:rPr>
              <a:t> On our single split it looked like 87.5% → 91.5%. Across all drivers C is +0.8 pts (95% CI -0.9 to +2.5), better on 4/5 folds, not significant (p = 0.26).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EF2F6"/>
                </a:solidFill>
                <a:latin typeface="Arial"/>
              </a:rPr>
              <a:t>Lesson:</a:t>
            </a:r>
            <a:r>
              <a:rPr sz="1500">
                <a:solidFill>
                  <a:srgbClr val="B4BFCC"/>
                </a:solidFill>
                <a:latin typeface="Arial"/>
              </a:rPr>
              <a:t> one split with 4 test drivers can mislead by several points.</a:t>
            </a:r>
          </a:p>
        </p:txBody>
      </p:sp>
      <p:pic>
        <p:nvPicPr>
          <p:cNvPr id="8" name="Picture 7" descr="cv_per_f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142232"/>
            <a:ext cx="4283133" cy="20939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640080" y="1737360"/>
            <a:ext cx="6949440" cy="27314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EEF2F6"/>
                </a:solidFill>
                <a:latin typeface="Arial"/>
              </a:rPr>
              <a:t>Did the adversary remove 'who is this?'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822960" cy="38000"/>
          </a:xfrm>
          <a:prstGeom prst="rect">
            <a:avLst/>
          </a:prstGeom>
          <a:solidFill>
            <a:srgbClr val="7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8592A3"/>
                </a:solidFill>
                <a:latin typeface="Arial"/>
              </a:rPr>
              <a:t>Team F-28 · Distracted Driver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8592A3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cv_ident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10512"/>
            <a:ext cx="6803136" cy="25851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63840" y="1554480"/>
            <a:ext cx="3749039" cy="4572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EEF2F6"/>
                </a:solidFill>
                <a:latin typeface="Arial"/>
              </a:rPr>
              <a:t>ImageNet features identify people 99% of the time</a:t>
            </a:r>
            <a:r>
              <a:rPr sz="1500">
                <a:solidFill>
                  <a:srgbClr val="B4BFCC"/>
                </a:solidFill>
                <a:latin typeface="Arial"/>
              </a:rPr>
              <a:t> from one photo, even within the same action.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EEF2F6"/>
                </a:solidFill>
                <a:latin typeface="Arial"/>
              </a:rPr>
              <a:t>Fine-tuning on actions lowers it to about 86%.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EF2F6"/>
                </a:solidFill>
                <a:latin typeface="Arial"/>
              </a:rPr>
              <a:t>The adversary (C) lowers it further, to 81%:</a:t>
            </a:r>
            <a:r>
              <a:rPr sz="1500">
                <a:solidFill>
                  <a:srgbClr val="B4BFCC"/>
                </a:solidFill>
                <a:latin typeface="Arial"/>
              </a:rPr>
              <a:t> lower on all 5 folds, p = 0.006.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EEF2F6"/>
                </a:solidFill>
                <a:latin typeface="Arial"/>
              </a:rPr>
              <a:t>But identity stays far above chance,</a:t>
            </a:r>
            <a:r>
              <a:rPr sz="1500">
                <a:solidFill>
                  <a:srgbClr val="B4BFCC"/>
                </a:solidFill>
                <a:latin typeface="Arial"/>
              </a:rPr>
              <a:t> and the accuracy gain is small, so appearance is only part of the problem.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EEF2F6"/>
                </a:solidFill>
                <a:latin typeface="Arial"/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822960" cy="38000"/>
          </a:xfrm>
          <a:prstGeom prst="rect">
            <a:avLst/>
          </a:prstGeom>
          <a:solidFill>
            <a:srgbClr val="7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8592A3"/>
                </a:solidFill>
                <a:latin typeface="Arial"/>
              </a:rPr>
              <a:t>Team F-28 · Distracted Driver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8592A3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4572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600"/>
              </a:spcAft>
            </a:pPr>
            <a:r>
              <a:rPr sz="2300" b="1">
                <a:solidFill>
                  <a:srgbClr val="EEF2F6"/>
                </a:solidFill>
                <a:latin typeface="Arial"/>
              </a:rPr>
              <a:t>Few drivers:</a:t>
            </a:r>
            <a:r>
              <a:rPr sz="2300">
                <a:solidFill>
                  <a:srgbClr val="B4BFCC"/>
                </a:solidFill>
                <a:latin typeface="Arial"/>
              </a:rPr>
              <a:t> only 26 people, and 4 in the driver-split test set, so per-driver results vary a lot.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EEF2F6"/>
                </a:solidFill>
                <a:latin typeface="Arial"/>
              </a:rPr>
              <a:t>One camera setup:</a:t>
            </a:r>
            <a:r>
              <a:rPr sz="2300">
                <a:solidFill>
                  <a:srgbClr val="B4BFCC"/>
                </a:solidFill>
                <a:latin typeface="Arial"/>
              </a:rPr>
              <a:t> same car, angle and lighting style; a new car or camera would be another shift.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EEF2F6"/>
                </a:solidFill>
                <a:latin typeface="Arial"/>
              </a:rPr>
              <a:t>Classical models used a 8,000-photo subsample</a:t>
            </a:r>
            <a:r>
              <a:rPr sz="2300">
                <a:solidFill>
                  <a:srgbClr val="B4BFCC"/>
                </a:solidFill>
                <a:latin typeface="Arial"/>
              </a:rPr>
              <a:t> for speed.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EEF2F6"/>
                </a:solidFill>
                <a:latin typeface="Arial"/>
              </a:rPr>
              <a:t>One seed, one split of drivers, no hyperparameter search:</a:t>
            </a:r>
            <a:r>
              <a:rPr sz="2300">
                <a:solidFill>
                  <a:srgbClr val="B4BFCC"/>
                </a:solidFill>
                <a:latin typeface="Arial"/>
              </a:rPr>
              <a:t> numbers would move somewhat with a different driver assignment.</a:t>
            </a:r>
          </a:p>
          <a:p>
            <a:pPr>
              <a:spcAft>
                <a:spcPts val="1600"/>
              </a:spcAft>
            </a:pPr>
            <a:r>
              <a:rPr sz="2300" b="1">
                <a:solidFill>
                  <a:srgbClr val="EEF2F6"/>
                </a:solidFill>
                <a:latin typeface="Arial"/>
              </a:rPr>
              <a:t>Grad-CAM is a rough explanation,</a:t>
            </a:r>
            <a:r>
              <a:rPr sz="2300">
                <a:solidFill>
                  <a:srgbClr val="B4BFCC"/>
                </a:solidFill>
                <a:latin typeface="Arial"/>
              </a:rPr>
              <a:t> not proof of what the model reasons about.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EEF2F6"/>
                </a:solidFill>
                <a:latin typeface="Arial"/>
              </a:rPr>
              <a:t>Future work and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822960" cy="38000"/>
          </a:xfrm>
          <a:prstGeom prst="rect">
            <a:avLst/>
          </a:prstGeom>
          <a:solidFill>
            <a:srgbClr val="7FE3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8592A3"/>
                </a:solidFill>
                <a:latin typeface="Arial"/>
              </a:rPr>
              <a:t>Team F-28 · Distracted Driver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8592A3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EEF2F6"/>
                </a:solidFill>
                <a:latin typeface="Arial"/>
              </a:rPr>
              <a:t>Driver-grouped cross-validation</a:t>
            </a:r>
            <a:r>
              <a:rPr sz="1900">
                <a:solidFill>
                  <a:srgbClr val="B4BFCC"/>
                </a:solidFill>
                <a:latin typeface="Arial"/>
              </a:rPr>
              <a:t> to average over many driver assignments.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EF2F6"/>
                </a:solidFill>
                <a:latin typeface="Arial"/>
              </a:rPr>
              <a:t>More drivers and cameras</a:t>
            </a:r>
            <a:r>
              <a:rPr sz="1900">
                <a:solidFill>
                  <a:srgbClr val="B4BFCC"/>
                </a:solidFill>
                <a:latin typeface="Arial"/>
              </a:rPr>
              <a:t> for a fairer test of generalisation.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EEF2F6"/>
                </a:solidFill>
                <a:latin typeface="Arial"/>
              </a:rPr>
              <a:t>Next research step:</a:t>
            </a:r>
            <a:r>
              <a:rPr sz="1900">
                <a:solidFill>
                  <a:srgbClr val="B4BFCC"/>
                </a:solidFill>
                <a:latin typeface="Arial"/>
              </a:rPr>
              <a:t> test vision-language models (CLIP) with driver-appearance decoupling under realistic calibration.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554480"/>
            <a:ext cx="5029200" cy="4389120"/>
          </a:xfrm>
          <a:prstGeom prst="rect">
            <a:avLst/>
          </a:prstGeom>
          <a:solidFill>
            <a:srgbClr val="171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783080"/>
            <a:ext cx="4572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400" b="1">
                <a:solidFill>
                  <a:srgbClr val="EEF2F6"/>
                </a:solidFill>
                <a:latin typeface="Arial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377440"/>
            <a:ext cx="4572000" cy="3474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0">
                <a:solidFill>
                  <a:srgbClr val="B4BFCC"/>
                </a:solidFill>
                <a:latin typeface="Arial"/>
              </a:rPr>
              <a:t>On a random split, MobileNetV3 reaches 99.9%.</a:t>
            </a:r>
          </a:p>
          <a:p>
            <a:pPr algn="l"/>
            <a:r>
              <a:rPr sz="1800" b="0">
                <a:solidFill>
                  <a:srgbClr val="B4BFCC"/>
                </a:solidFill>
                <a:latin typeface="Arial"/>
              </a:rPr>
              <a:t>On unseen drivers, MobileNetV3 scores 87.5% (12.4 points lower than on the random split).</a:t>
            </a:r>
          </a:p>
          <a:p>
            <a:pPr algn="l"/>
            <a:r>
              <a:rPr sz="1800" b="0">
                <a:solidFill>
                  <a:srgbClr val="B4BFCC"/>
                </a:solidFill>
                <a:latin typeface="Arial"/>
              </a:rPr>
              <a:t>Random splits overstate how well distracted-driver models work on new people. Report driver-grouped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